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5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6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>
              <a:alpha val="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7"/>
          </p:nvPr>
        </p:nvSpPr>
        <p:spPr>
          <a:xfrm>
            <a:off x="1143001" y="999866"/>
            <a:ext cx="9906000" cy="4858268"/>
          </a:xfrm>
          <a:prstGeom prst="rect">
            <a:avLst/>
          </a:prstGeom>
          <a:solidFill>
            <a:srgbClr val="BFBFBF">
              <a:alpha val="0"/>
            </a:srgbClr>
          </a:solidFill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35600"/>
            <a:ext cx="2422774" cy="5229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003758"/>
            <a:ext cx="12192000" cy="85424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8" hasCustomPrompt="1"/>
          </p:nvPr>
        </p:nvSpPr>
        <p:spPr>
          <a:xfrm>
            <a:off x="8932863" y="6248316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182852">
                    <a:alpha val="100000"/>
                  </a:srgbClr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82852"/>
                </a:solidFill>
                <a:latin typeface="Arial"/>
                <a:ea typeface="Arial"/>
                <a:cs typeface="Arial"/>
                <a:sym typeface="Arial"/>
              </a:rPr>
              <a:t>‹#›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-12267"/>
          <a:stretch>
            <a:fillRect/>
          </a:stretch>
        </p:blipFill>
        <p:spPr>
          <a:xfrm>
            <a:off x="9130422" y="215610"/>
            <a:ext cx="2545641" cy="91201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b"/>
          <a:lstStyle>
            <a:lvl1pPr algn="l">
              <a:lnSpc>
                <a:spcPct val="91666"/>
              </a:lnSpc>
              <a:defRPr sz="60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1666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22860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b"/>
          <a:lstStyle>
            <a:lvl1pPr algn="ctr">
              <a:lnSpc>
                <a:spcPct val="91666"/>
              </a:lnSpc>
              <a:defRPr sz="60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91666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5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ctr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50800" indent="0" algn="ctr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91666"/>
              </a:lnSpc>
              <a:defRPr sz="4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2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114300" indent="0" algn="l">
              <a:lnSpc>
                <a:spcPct val="91666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4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91666"/>
              </a:lnSpc>
              <a:defRPr sz="4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5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2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114300" indent="0" algn="l">
              <a:lnSpc>
                <a:spcPct val="91666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6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2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114300" indent="0" algn="l">
              <a:lnSpc>
                <a:spcPct val="91666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8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9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0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91666"/>
              </a:lnSpc>
              <a:defRPr sz="4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b"/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228600" indent="0" algn="l">
              <a:lnSpc>
                <a:spcPct val="91666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2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114300" indent="0" algn="l">
              <a:lnSpc>
                <a:spcPct val="91666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b"/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228600" indent="0" algn="l">
              <a:lnSpc>
                <a:spcPct val="91666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2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114300" indent="0" algn="l">
              <a:lnSpc>
                <a:spcPct val="91666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5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6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7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8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91666"/>
              </a:lnSpc>
              <a:defRPr sz="4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5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b"/>
          <a:lstStyle>
            <a:lvl1pPr algn="l">
              <a:lnSpc>
                <a:spcPct val="91666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1666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6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3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25400" indent="0" algn="l">
              <a:lnSpc>
                <a:spcPct val="91666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7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228600" indent="0" algn="l">
              <a:lnSpc>
                <a:spcPct val="91666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1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b"/>
          <a:lstStyle>
            <a:lvl1pPr algn="l">
              <a:lnSpc>
                <a:spcPct val="91666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1666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5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3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228600" indent="0" algn="l">
              <a:lnSpc>
                <a:spcPct val="91666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4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5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6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91666"/>
              </a:lnSpc>
              <a:defRPr sz="4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8" hasCustomPrompt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2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114300" indent="0" algn="l">
              <a:lnSpc>
                <a:spcPct val="91666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2" hasCustomPrompt="1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91666"/>
              </a:lnSpc>
              <a:defRPr sz="4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3" hasCustomPrompt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t"/>
          <a:lstStyle>
            <a:lvl1pPr algn="l">
              <a:lnSpc>
                <a:spcPct val="91666"/>
              </a:lnSpc>
              <a:defRPr sz="2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114300" indent="0" algn="l">
              <a:lnSpc>
                <a:spcPct val="91666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4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5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6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88888">
                    <a:alpha val="100000"/>
                  </a:srgb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0" y="59400"/>
            <a:ext cx="2422774" cy="5229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  <p:sldLayoutId id="215748371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05229" y="-5647037"/>
            <a:ext cx="16382002" cy="18151401"/>
          </a:xfrm>
          <a:custGeom>
            <a:avLst/>
            <a:gdLst/>
            <a:ahLst/>
            <a:cxnLst/>
            <a:rect l="l" t="t" r="r" b="b"/>
            <a:pathLst>
              <a:path w="16382002" h="18151401">
                <a:moveTo>
                  <a:pt x="6453278" y="620831"/>
                </a:moveTo>
                <a:cubicBezTo>
                  <a:pt x="7528580" y="0"/>
                  <a:pt x="8853415" y="0"/>
                  <a:pt x="9928713" y="620831"/>
                </a:cubicBezTo>
                <a:lnTo>
                  <a:pt x="14644284" y="3343355"/>
                </a:lnTo>
                <a:cubicBezTo>
                  <a:pt x="15719581" y="3964179"/>
                  <a:pt x="16382002" y="5111524"/>
                  <a:pt x="16382002" y="6353199"/>
                </a:cubicBezTo>
                <a:lnTo>
                  <a:pt x="16382002" y="11798209"/>
                </a:lnTo>
                <a:cubicBezTo>
                  <a:pt x="16382002" y="13039883"/>
                  <a:pt x="15719581" y="14187222"/>
                  <a:pt x="14644284" y="14808036"/>
                </a:cubicBezTo>
                <a:lnTo>
                  <a:pt x="9928713" y="17530592"/>
                </a:lnTo>
                <a:cubicBezTo>
                  <a:pt x="8853415" y="18151401"/>
                  <a:pt x="7528580" y="18151401"/>
                  <a:pt x="6453278" y="17530592"/>
                </a:cubicBezTo>
                <a:lnTo>
                  <a:pt x="1737717" y="14808036"/>
                </a:lnTo>
                <a:cubicBezTo>
                  <a:pt x="662415" y="14187222"/>
                  <a:pt x="0" y="13039883"/>
                  <a:pt x="0" y="11798209"/>
                </a:cubicBezTo>
                <a:lnTo>
                  <a:pt x="0" y="6353199"/>
                </a:lnTo>
                <a:cubicBezTo>
                  <a:pt x="0" y="5111524"/>
                  <a:pt x="662415" y="3964179"/>
                  <a:pt x="1737717" y="3343355"/>
                </a:cubicBezTo>
                <a:lnTo>
                  <a:pt x="6453278" y="62083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00" sx="102000" sy="102000" algn="ctr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-2690016" y="-2875238"/>
            <a:ext cx="12429893" cy="13772430"/>
          </a:xfrm>
          <a:custGeom>
            <a:avLst/>
            <a:gdLst/>
            <a:ahLst/>
            <a:cxnLst/>
            <a:rect l="l" t="t" r="r" b="b"/>
            <a:pathLst>
              <a:path w="12429893" h="13772430">
                <a:moveTo>
                  <a:pt x="4896444" y="471057"/>
                </a:moveTo>
                <a:cubicBezTo>
                  <a:pt x="5712333" y="0"/>
                  <a:pt x="6717556" y="0"/>
                  <a:pt x="7533441" y="471057"/>
                </a:cubicBezTo>
                <a:lnTo>
                  <a:pt x="11111395" y="2536780"/>
                </a:lnTo>
                <a:cubicBezTo>
                  <a:pt x="11927280" y="3007834"/>
                  <a:pt x="12429893" y="3878384"/>
                  <a:pt x="12429893" y="4820508"/>
                </a:cubicBezTo>
                <a:lnTo>
                  <a:pt x="12429893" y="8951925"/>
                </a:lnTo>
                <a:cubicBezTo>
                  <a:pt x="12429893" y="9894049"/>
                  <a:pt x="11927280" y="10764596"/>
                  <a:pt x="11111395" y="11235642"/>
                </a:cubicBezTo>
                <a:lnTo>
                  <a:pt x="7533441" y="13301389"/>
                </a:lnTo>
                <a:cubicBezTo>
                  <a:pt x="6717556" y="13772430"/>
                  <a:pt x="5712333" y="13772430"/>
                  <a:pt x="4896444" y="13301389"/>
                </a:cubicBezTo>
                <a:lnTo>
                  <a:pt x="1318499" y="11235642"/>
                </a:lnTo>
                <a:cubicBezTo>
                  <a:pt x="502609" y="10764596"/>
                  <a:pt x="0" y="9894049"/>
                  <a:pt x="0" y="8951925"/>
                </a:cubicBezTo>
                <a:lnTo>
                  <a:pt x="0" y="4820508"/>
                </a:lnTo>
                <a:cubicBezTo>
                  <a:pt x="0" y="3878384"/>
                  <a:pt x="502609" y="3007834"/>
                  <a:pt x="1318499" y="2536780"/>
                </a:cubicBezTo>
                <a:lnTo>
                  <a:pt x="4896444" y="47105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00" sx="102000" sy="102000" algn="ctr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-815557" y="-1337258"/>
            <a:ext cx="8603497" cy="9532751"/>
          </a:xfrm>
          <a:custGeom>
            <a:avLst/>
            <a:gdLst/>
            <a:ahLst/>
            <a:cxnLst/>
            <a:rect l="l" t="t" r="r" b="b"/>
            <a:pathLst>
              <a:path w="8603497" h="9532751">
                <a:moveTo>
                  <a:pt x="3389132" y="326048"/>
                </a:moveTo>
                <a:cubicBezTo>
                  <a:pt x="3953859" y="0"/>
                  <a:pt x="4649635" y="0"/>
                  <a:pt x="5214360" y="326048"/>
                </a:cubicBezTo>
                <a:lnTo>
                  <a:pt x="7690883" y="1755862"/>
                </a:lnTo>
                <a:cubicBezTo>
                  <a:pt x="8255607" y="2081907"/>
                  <a:pt x="8603497" y="2684470"/>
                  <a:pt x="8603497" y="3336572"/>
                </a:cubicBezTo>
                <a:lnTo>
                  <a:pt x="8603497" y="6196181"/>
                </a:lnTo>
                <a:cubicBezTo>
                  <a:pt x="8603497" y="6848284"/>
                  <a:pt x="8255607" y="7450843"/>
                  <a:pt x="7690883" y="7776881"/>
                </a:cubicBezTo>
                <a:lnTo>
                  <a:pt x="5214360" y="9206713"/>
                </a:lnTo>
                <a:cubicBezTo>
                  <a:pt x="4649635" y="9532750"/>
                  <a:pt x="3953859" y="9532750"/>
                  <a:pt x="3389132" y="9206713"/>
                </a:cubicBezTo>
                <a:lnTo>
                  <a:pt x="912614" y="7776881"/>
                </a:lnTo>
                <a:cubicBezTo>
                  <a:pt x="347887" y="7450843"/>
                  <a:pt x="0" y="6848284"/>
                  <a:pt x="0" y="6196181"/>
                </a:cubicBezTo>
                <a:lnTo>
                  <a:pt x="0" y="3336572"/>
                </a:lnTo>
                <a:cubicBezTo>
                  <a:pt x="0" y="2684470"/>
                  <a:pt x="347887" y="2081907"/>
                  <a:pt x="912614" y="1755862"/>
                </a:cubicBezTo>
                <a:lnTo>
                  <a:pt x="3389132" y="32604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blurRad="1270000" sx="102000" sy="102000" algn="ctr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2226425" y="-398593"/>
            <a:ext cx="5334954" cy="5911176"/>
          </a:xfrm>
          <a:custGeom>
            <a:avLst/>
            <a:gdLst/>
            <a:ahLst/>
            <a:cxnLst/>
            <a:rect l="l" t="t" r="r" b="b"/>
            <a:pathLst>
              <a:path w="5334954" h="5911176">
                <a:moveTo>
                  <a:pt x="2101571" y="202179"/>
                </a:moveTo>
                <a:cubicBezTo>
                  <a:pt x="2451754" y="0"/>
                  <a:pt x="2883198" y="0"/>
                  <a:pt x="3233379" y="202179"/>
                </a:cubicBezTo>
                <a:lnTo>
                  <a:pt x="4769049" y="1088795"/>
                </a:lnTo>
                <a:cubicBezTo>
                  <a:pt x="5119230" y="1290973"/>
                  <a:pt x="5334954" y="1664616"/>
                  <a:pt x="5334954" y="2068980"/>
                </a:cubicBezTo>
                <a:lnTo>
                  <a:pt x="5334954" y="3842199"/>
                </a:lnTo>
                <a:cubicBezTo>
                  <a:pt x="5334954" y="4246561"/>
                  <a:pt x="5119230" y="4620203"/>
                  <a:pt x="4769049" y="4822377"/>
                </a:cubicBezTo>
                <a:lnTo>
                  <a:pt x="3233379" y="5709003"/>
                </a:lnTo>
                <a:cubicBezTo>
                  <a:pt x="2883198" y="5911176"/>
                  <a:pt x="2451754" y="5911176"/>
                  <a:pt x="2101571" y="5709003"/>
                </a:cubicBezTo>
                <a:lnTo>
                  <a:pt x="565904" y="4822377"/>
                </a:lnTo>
                <a:cubicBezTo>
                  <a:pt x="215722" y="4620203"/>
                  <a:pt x="0" y="4246561"/>
                  <a:pt x="0" y="3842199"/>
                </a:cubicBezTo>
                <a:lnTo>
                  <a:pt x="0" y="2068980"/>
                </a:lnTo>
                <a:cubicBezTo>
                  <a:pt x="0" y="1664616"/>
                  <a:pt x="215722" y="1290973"/>
                  <a:pt x="565904" y="1088795"/>
                </a:cubicBezTo>
                <a:lnTo>
                  <a:pt x="2101571" y="202179"/>
                </a:lnTo>
                <a:close/>
              </a:path>
            </a:pathLst>
          </a:custGeom>
          <a:solidFill>
            <a:srgbClr val="EF4349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472456" y="46760"/>
            <a:ext cx="6104947" cy="6764335"/>
          </a:xfrm>
          <a:custGeom>
            <a:avLst/>
            <a:gdLst/>
            <a:ahLst/>
            <a:cxnLst/>
            <a:rect l="l" t="t" r="r" b="b"/>
            <a:pathLst>
              <a:path w="6104947" h="6764335">
                <a:moveTo>
                  <a:pt x="2404891" y="231360"/>
                </a:moveTo>
                <a:cubicBezTo>
                  <a:pt x="2805614" y="0"/>
                  <a:pt x="3299330" y="0"/>
                  <a:pt x="3700052" y="231360"/>
                </a:cubicBezTo>
                <a:lnTo>
                  <a:pt x="5457367" y="1245942"/>
                </a:lnTo>
                <a:cubicBezTo>
                  <a:pt x="5858088" y="1477299"/>
                  <a:pt x="6104947" y="1904870"/>
                  <a:pt x="6104947" y="2367595"/>
                </a:cubicBezTo>
                <a:lnTo>
                  <a:pt x="6104947" y="4396742"/>
                </a:lnTo>
                <a:cubicBezTo>
                  <a:pt x="6104947" y="4859467"/>
                  <a:pt x="5858088" y="5287037"/>
                  <a:pt x="5457367" y="5518390"/>
                </a:cubicBezTo>
                <a:lnTo>
                  <a:pt x="3700052" y="6532983"/>
                </a:lnTo>
                <a:cubicBezTo>
                  <a:pt x="3299330" y="6764335"/>
                  <a:pt x="2805614" y="6764335"/>
                  <a:pt x="2404891" y="6532983"/>
                </a:cubicBezTo>
                <a:lnTo>
                  <a:pt x="647581" y="5518390"/>
                </a:lnTo>
                <a:cubicBezTo>
                  <a:pt x="246856" y="5287037"/>
                  <a:pt x="0" y="4859467"/>
                  <a:pt x="0" y="4396742"/>
                </a:cubicBezTo>
                <a:lnTo>
                  <a:pt x="0" y="2367595"/>
                </a:lnTo>
                <a:cubicBezTo>
                  <a:pt x="0" y="1904870"/>
                  <a:pt x="246856" y="1477299"/>
                  <a:pt x="647581" y="1245942"/>
                </a:cubicBezTo>
                <a:lnTo>
                  <a:pt x="2404891" y="231360"/>
                </a:lnTo>
                <a:close/>
              </a:path>
            </a:pathLst>
          </a:custGeom>
          <a:solidFill>
            <a:srgbClr val="F4F5F6">
              <a:alpha val="80000"/>
            </a:srgbClr>
          </a:solidFill>
          <a:ln w="12700">
            <a:noFill/>
            <a:prstDash val="solid"/>
          </a:ln>
          <a:effectLst>
            <a:outerShdw blurRad="1270000" sx="102000" sy="102000" algn="ctr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150132" y="398538"/>
            <a:ext cx="5334954" cy="5911176"/>
          </a:xfrm>
          <a:custGeom>
            <a:avLst/>
            <a:gdLst/>
            <a:ahLst/>
            <a:cxnLst/>
            <a:rect l="l" t="t" r="r" b="b"/>
            <a:pathLst>
              <a:path w="5334954" h="5911176">
                <a:moveTo>
                  <a:pt x="2101571" y="202179"/>
                </a:moveTo>
                <a:cubicBezTo>
                  <a:pt x="2451754" y="0"/>
                  <a:pt x="2883198" y="0"/>
                  <a:pt x="3233379" y="202179"/>
                </a:cubicBezTo>
                <a:lnTo>
                  <a:pt x="4769049" y="1088795"/>
                </a:lnTo>
                <a:cubicBezTo>
                  <a:pt x="5119230" y="1290973"/>
                  <a:pt x="5334954" y="1664616"/>
                  <a:pt x="5334954" y="2068980"/>
                </a:cubicBezTo>
                <a:lnTo>
                  <a:pt x="5334954" y="3842199"/>
                </a:lnTo>
                <a:cubicBezTo>
                  <a:pt x="5334954" y="4246561"/>
                  <a:pt x="5119230" y="4620203"/>
                  <a:pt x="4769049" y="4822377"/>
                </a:cubicBezTo>
                <a:lnTo>
                  <a:pt x="3233379" y="5709003"/>
                </a:lnTo>
                <a:cubicBezTo>
                  <a:pt x="2883198" y="5911176"/>
                  <a:pt x="2451754" y="5911176"/>
                  <a:pt x="2101571" y="5709003"/>
                </a:cubicBezTo>
                <a:lnTo>
                  <a:pt x="565904" y="4822377"/>
                </a:lnTo>
                <a:cubicBezTo>
                  <a:pt x="215722" y="4620203"/>
                  <a:pt x="0" y="4246561"/>
                  <a:pt x="0" y="3842199"/>
                </a:cubicBezTo>
                <a:lnTo>
                  <a:pt x="0" y="2068980"/>
                </a:lnTo>
                <a:cubicBezTo>
                  <a:pt x="0" y="1664616"/>
                  <a:pt x="215722" y="1290973"/>
                  <a:pt x="565904" y="1088795"/>
                </a:cubicBezTo>
                <a:lnTo>
                  <a:pt x="2101571" y="202179"/>
                </a:lnTo>
                <a:close/>
              </a:path>
            </a:pathLst>
          </a:custGeom>
          <a:solidFill>
            <a:srgbClr val="087DB7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1231158" y="887396"/>
            <a:ext cx="4588532" cy="5084134"/>
          </a:xfrm>
          <a:custGeom>
            <a:avLst/>
            <a:gdLst/>
            <a:ahLst/>
            <a:cxnLst/>
            <a:rect l="l" t="t" r="r" b="b"/>
            <a:pathLst>
              <a:path w="4588532" h="5084134">
                <a:moveTo>
                  <a:pt x="1807536" y="173892"/>
                </a:moveTo>
                <a:cubicBezTo>
                  <a:pt x="2108725" y="0"/>
                  <a:pt x="2479806" y="0"/>
                  <a:pt x="2780991" y="173892"/>
                </a:cubicBezTo>
                <a:lnTo>
                  <a:pt x="4101804" y="936460"/>
                </a:lnTo>
                <a:cubicBezTo>
                  <a:pt x="4402990" y="1110350"/>
                  <a:pt x="4588532" y="1431718"/>
                  <a:pt x="4588532" y="1779505"/>
                </a:cubicBezTo>
                <a:lnTo>
                  <a:pt x="4588532" y="3304630"/>
                </a:lnTo>
                <a:cubicBezTo>
                  <a:pt x="4588532" y="3652418"/>
                  <a:pt x="4402990" y="3973783"/>
                  <a:pt x="4101804" y="4147671"/>
                </a:cubicBezTo>
                <a:lnTo>
                  <a:pt x="2780991" y="4910248"/>
                </a:lnTo>
                <a:cubicBezTo>
                  <a:pt x="2479806" y="5084133"/>
                  <a:pt x="2108725" y="5084133"/>
                  <a:pt x="1807536" y="4910248"/>
                </a:cubicBezTo>
                <a:lnTo>
                  <a:pt x="486727" y="4147671"/>
                </a:lnTo>
                <a:cubicBezTo>
                  <a:pt x="185539" y="3973783"/>
                  <a:pt x="0" y="3652418"/>
                  <a:pt x="0" y="3304630"/>
                </a:cubicBezTo>
                <a:lnTo>
                  <a:pt x="0" y="1779505"/>
                </a:lnTo>
                <a:cubicBezTo>
                  <a:pt x="0" y="1431718"/>
                  <a:pt x="185539" y="1110350"/>
                  <a:pt x="486727" y="936460"/>
                </a:cubicBezTo>
                <a:lnTo>
                  <a:pt x="1807536" y="17389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noFill/>
            <a:prstDash val="solid"/>
          </a:ln>
          <a:effectLst>
            <a:outerShdw blurRad="1270000" dist="901700" dir="2700000" algn="tl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037449" y="1895488"/>
            <a:ext cx="5113200" cy="785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r">
              <a:lnSpc>
                <a:spcPct val="91666"/>
              </a:lnSpc>
              <a:defRPr/>
            </a:pPr>
            <a:r>
              <a:rPr lang="en-US" sz="5000" b="1" i="0" u="none" strike="noStrike">
                <a:solidFill>
                  <a:srgbClr val="0475BC"/>
                </a:solidFill>
                <a:latin typeface="Arial"/>
                <a:ea typeface="Arial"/>
                <a:cs typeface="Arial"/>
                <a:sym typeface="Arial"/>
              </a:rPr>
              <a:t>Weekly Report 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61163" y="2757585"/>
            <a:ext cx="3927670" cy="125339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3" name="AutoShape 13"/>
          <p:cNvSpPr/>
          <p:nvPr/>
        </p:nvSpPr>
        <p:spPr>
          <a:xfrm>
            <a:off x="-1312875" y="6428532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54700" y="2777175"/>
            <a:ext cx="6261100" cy="48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r">
              <a:lnSpc>
                <a:spcPct val="91666"/>
              </a:lnSpc>
              <a:defRPr/>
            </a:pPr>
            <a:r>
              <a:rPr lang="en-US" sz="2800" b="1" i="0" u="none" strike="noStrike">
                <a:solidFill>
                  <a:srgbClr val="0475BC"/>
                </a:solidFill>
                <a:latin typeface="Arial"/>
                <a:ea typeface="Arial"/>
                <a:cs typeface="Arial"/>
                <a:sym typeface="Arial"/>
              </a:rPr>
              <a:t>20 Februari -  26 Februari 2026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1880425" y="154775"/>
            <a:ext cx="2422774" cy="5229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childTnLst>
                              <p:par>
                                <p:cTn id="9" presetID="10" presetClass="entr" presetSubtype="0" repeatCount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childTnLst>
                              <p:par>
                                <p:cTn id="13" presetID="10" presetClass="entr" presetSubtype="0" repeatCount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childTnLst>
                              <p:par>
                                <p:cTn id="17" presetID="10" presetClass="entr" presetSubtype="0" repeatCount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childTnLst>
                              <p:par>
                                <p:cTn id="21" presetID="10" presetClass="entr" presetSubtype="0" repeatCount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repeatCount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repeatCount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repeatCount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6"/>
          </p:nvPr>
        </p:nvPicPr>
        <p:blipFill>
          <a:blip r:embed="rId3"/>
          <a:srcRect t="8506" b="8491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-18648" y="0"/>
            <a:ext cx="12192000" cy="6858000"/>
          </a:xfrm>
          <a:prstGeom prst="round1Rect">
            <a:avLst/>
          </a:prstGeom>
          <a:solidFill>
            <a:srgbClr val="32B6E9">
              <a:alpha val="8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21465" y="2195836"/>
            <a:ext cx="7003800" cy="2313900"/>
          </a:xfrm>
          <a:prstGeom prst="roundRect">
            <a:avLst>
              <a:gd name="adj" fmla="val 5628"/>
            </a:avLst>
          </a:prstGeom>
          <a:gradFill rotWithShape="0">
            <a:gsLst>
              <a:gs pos="0">
                <a:srgbClr val="FFFFFF">
                  <a:alpha val="80000"/>
                </a:srgbClr>
              </a:gs>
              <a:gs pos="15000">
                <a:srgbClr val="FFFFFF">
                  <a:alpha val="80000"/>
                </a:srgbClr>
              </a:gs>
              <a:gs pos="8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  <a:effectLst>
            <a:outerShdw blurRad="850900" dist="939800" dir="5400000" sx="85000" sy="85000" algn="t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227666" y="2911973"/>
            <a:ext cx="6102600" cy="861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087DB7"/>
                </a:solidFill>
                <a:latin typeface="Arial"/>
                <a:ea typeface="Arial"/>
                <a:cs typeface="Arial"/>
                <a:sym typeface="Arial"/>
              </a:rPr>
              <a:t>GCP Back Office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5485684" y="3774331"/>
            <a:ext cx="1834200" cy="0"/>
          </a:xfrm>
          <a:prstGeom prst="straightConnector1">
            <a:avLst/>
          </a:prstGeom>
          <a:noFill/>
          <a:ln w="25400" cap="flat" cmpd="sng">
            <a:solidFill>
              <a:srgbClr val="087DB7">
                <a:alpha val="100000"/>
              </a:srgbClr>
            </a:solidFill>
            <a:prstDash val="solid"/>
            <a:miter lim="8000000"/>
            <a:headEnd type="none" w="sm" len="sm"/>
            <a:tailEnd type="none" w="sm" len="sm"/>
          </a:ln>
        </p:spPr>
      </p:cxnSp>
      <p:sp>
        <p:nvSpPr>
          <p:cNvPr id="7" name="AutoShape 7"/>
          <p:cNvSpPr/>
          <p:nvPr/>
        </p:nvSpPr>
        <p:spPr>
          <a:xfrm>
            <a:off x="5168190" y="6474448"/>
            <a:ext cx="1819800" cy="4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Rights Reserved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childTnLst>
                              <p:par>
                                <p:cTn id="9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childTnLst>
                              <p:par>
                                <p:cTn id="13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My Pelindo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319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Rocky Linux 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05875" y="2908928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51178" y="31608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94612" y="34903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19570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My Pelindo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Pajak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5451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vCPU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Ubuntu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05875" y="2908928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51178" y="31608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94612" y="34903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280567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Pajak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E Proc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91442" y="2103386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02474" y="2931843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851100" y="2041311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Rocky Linux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2003" y="2379626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306" y="2631501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40" y="2961009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357217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E Proc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Prima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319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Rocky Linux 9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05875" y="2908928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51178" y="31608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94612" y="34903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147804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Prima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P RKM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91434" y="262590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02466" y="345435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851092" y="2257263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3.75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Debian 12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48070" y="26258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284921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17872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19570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P RKM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Spesifikasi - BIOS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31848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22951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2178142" y="2568851"/>
          <a:ext cx="4489800" cy="166693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7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(OS)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350 (BIOS)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(P Eats)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Server 2016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459045" y="2908928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404348" y="31608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431707" y="36831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7768942" y="2568851"/>
          <a:ext cx="22449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APLIKASI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 - BIOS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Eats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Cruise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Portal SI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Raports-FE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97226" y="25035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BIOS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highlight>
                  <a:srgbClr val="FFFFFF">
                    <a:alpha val="100000"/>
                  </a:srgbClr>
                </a:highlight>
                <a:latin typeface="Arial"/>
                <a:ea typeface="Arial"/>
                <a:cs typeface="Arial"/>
                <a:sym typeface="Arial"/>
              </a:rPr>
              <a:t>VM Spesifikasi - Power BI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319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vCPU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Server 2022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05875" y="2908928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51178" y="31608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94612" y="34903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00" y="19570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Power BI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Simtax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319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Server 2022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05875" y="2908928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51178" y="31608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94612" y="34903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00" y="11129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Simtax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Centra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319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vCPU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Rocky Linux 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05875" y="2908928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51178" y="31608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94612" y="34903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00" y="19570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Centra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79537" y="1150954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Tanos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319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vCPU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Rocky Linux 9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05875" y="2908928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51178" y="31608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94612" y="34903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49489" y="221103"/>
            <a:ext cx="100806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Tanos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Information - Back Office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Server Specification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72" y="2654607"/>
          <a:ext cx="4489800" cy="27313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P-Ercent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P-GYM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Iron-PDF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Sigap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HSSE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 Era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P-KPI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Internal-MDM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Silaba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Peluit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SIAP (aset)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P-Meet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P-Eproc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Annual Report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P-well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 Pelindo Fe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P-RKM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PICS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Income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19962" y="2527242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(6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GB (32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1.32.6-gke.1025000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90547" y="288734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35850" y="313921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63198" y="347995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192582" y="378555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225607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Utilization - Back Office 1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Information - Back Office 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Server Specification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68" y="2654636"/>
          <a:ext cx="4489800" cy="1986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Eproc Legi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Portal APBS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icofr (PICO)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emudik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ekatalog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portinfo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MDM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ECDR (Gate Inspection)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API MY pelindo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Datapool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Raports-API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P-files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SIUK-Ambapers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Portalsi API (eap)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(4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GB (16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1.31.5-gke.1233000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088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39383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2552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00" y="11129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Utilization - Back Office 2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6"/>
          </p:nvPr>
        </p:nvPicPr>
        <p:blipFill>
          <a:blip r:embed="rId3"/>
          <a:srcRect t="8506" b="8491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-18648" y="0"/>
            <a:ext cx="12192000" cy="6858000"/>
          </a:xfrm>
          <a:prstGeom prst="round1Rect">
            <a:avLst/>
          </a:prstGeom>
          <a:solidFill>
            <a:srgbClr val="32B6E9">
              <a:alpha val="8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21465" y="2195836"/>
            <a:ext cx="7003800" cy="2313900"/>
          </a:xfrm>
          <a:prstGeom prst="roundRect">
            <a:avLst>
              <a:gd name="adj" fmla="val 5628"/>
            </a:avLst>
          </a:prstGeom>
          <a:gradFill rotWithShape="0">
            <a:gsLst>
              <a:gs pos="0">
                <a:srgbClr val="FFFFFF">
                  <a:alpha val="80000"/>
                </a:srgbClr>
              </a:gs>
              <a:gs pos="15000">
                <a:srgbClr val="FFFFFF">
                  <a:alpha val="80000"/>
                </a:srgbClr>
              </a:gs>
              <a:gs pos="8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  <a:effectLst>
            <a:outerShdw blurRad="850900" dist="939800" dir="5400000" sx="85000" sy="85000" algn="t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227666" y="2911973"/>
            <a:ext cx="6102600" cy="861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087DB7"/>
                </a:solidFill>
                <a:latin typeface="Arial"/>
                <a:ea typeface="Arial"/>
                <a:cs typeface="Arial"/>
                <a:sym typeface="Arial"/>
              </a:rPr>
              <a:t>GCP Payment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5485684" y="3774331"/>
            <a:ext cx="1834200" cy="0"/>
          </a:xfrm>
          <a:prstGeom prst="straightConnector1">
            <a:avLst/>
          </a:prstGeom>
          <a:noFill/>
          <a:ln w="25400" cap="flat" cmpd="sng">
            <a:solidFill>
              <a:srgbClr val="087DB7">
                <a:alpha val="100000"/>
              </a:srgbClr>
            </a:solidFill>
            <a:prstDash val="solid"/>
            <a:miter lim="8000000"/>
            <a:headEnd type="none" w="sm" len="sm"/>
            <a:tailEnd type="none" w="sm" len="sm"/>
          </a:ln>
        </p:spPr>
      </p:cxnSp>
      <p:sp>
        <p:nvSpPr>
          <p:cNvPr id="7" name="AutoShape 7"/>
          <p:cNvSpPr/>
          <p:nvPr/>
        </p:nvSpPr>
        <p:spPr>
          <a:xfrm>
            <a:off x="5168190" y="6474448"/>
            <a:ext cx="1819800" cy="4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Rights Reserved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childTnLst>
                              <p:par>
                                <p:cTn id="9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childTnLst>
                              <p:par>
                                <p:cTn id="13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E Materai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91434" y="262590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02466" y="345435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851092" y="2563826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Centos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1995" y="290214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315401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48352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-31900" y="5869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180701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E Materai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IBS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91434" y="262590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02466" y="345435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851092" y="2563826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Server 2022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1995" y="290214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315401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48352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7194" r="1133"/>
          <a:stretch>
            <a:fillRect/>
          </a:stretch>
        </p:blipFill>
        <p:spPr>
          <a:xfrm rot="10800000" flipV="1">
            <a:off x="0" y="6133246"/>
            <a:ext cx="12192000" cy="5844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96532" y="46241"/>
            <a:ext cx="100838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IBS Unicorn 1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7194" r="1133"/>
          <a:stretch>
            <a:fillRect/>
          </a:stretch>
        </p:blipFill>
        <p:spPr>
          <a:xfrm rot="10800000" flipV="1">
            <a:off x="0" y="6133246"/>
            <a:ext cx="12192000" cy="5844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96532" y="46241"/>
            <a:ext cx="100838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IBS Unicorn 2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95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Integration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4991434" y="262590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02466" y="345435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851092" y="2563826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Server 2022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1995" y="290214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315401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48352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7262" r="1065"/>
          <a:stretch>
            <a:fillRect/>
          </a:stretch>
        </p:blipFill>
        <p:spPr>
          <a:xfrm rot="10800000" flipV="1">
            <a:off x="0" y="6112745"/>
            <a:ext cx="12192000" cy="54955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00" y="11129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Integration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Pelindo Pay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91434" y="262590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02466" y="345435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851092" y="2563826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Server 2022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1995" y="290214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315401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48352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17077" y="86352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Pelindo Pay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Payment (Arta)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91434" y="262590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02466" y="345435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851092" y="2563826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VM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Server 2022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1995" y="290214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315401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48352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7165" r="1162"/>
          <a:stretch>
            <a:fillRect/>
          </a:stretch>
        </p:blipFill>
        <p:spPr>
          <a:xfrm rot="10800000" flipV="1">
            <a:off x="0" y="6062883"/>
            <a:ext cx="12192000" cy="599414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08112" y="19570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Payment (Arta)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Information - Payment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496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Hub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(2 x 3)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GB (8 x 3)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1.28.11-gke.1019001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088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39383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2552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240248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Utilization - Payment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6"/>
          </p:nvPr>
        </p:nvPicPr>
        <p:blipFill>
          <a:blip r:embed="rId3"/>
          <a:srcRect t="8506" b="8491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-18648" y="0"/>
            <a:ext cx="12192000" cy="6858000"/>
          </a:xfrm>
          <a:prstGeom prst="round1Rect">
            <a:avLst/>
          </a:prstGeom>
          <a:solidFill>
            <a:srgbClr val="32B6E9">
              <a:alpha val="8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21465" y="2195836"/>
            <a:ext cx="7003800" cy="2313900"/>
          </a:xfrm>
          <a:prstGeom prst="roundRect">
            <a:avLst>
              <a:gd name="adj" fmla="val 5628"/>
            </a:avLst>
          </a:prstGeom>
          <a:gradFill rotWithShape="0">
            <a:gsLst>
              <a:gs pos="0">
                <a:srgbClr val="FFFFFF">
                  <a:alpha val="80000"/>
                </a:srgbClr>
              </a:gs>
              <a:gs pos="15000">
                <a:srgbClr val="FFFFFF">
                  <a:alpha val="80000"/>
                </a:srgbClr>
              </a:gs>
              <a:gs pos="8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  <a:effectLst>
            <a:outerShdw blurRad="850900" dist="939800" dir="5400000" sx="85000" sy="85000" algn="t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227666" y="2911973"/>
            <a:ext cx="6102600" cy="861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087DB7"/>
                </a:solidFill>
                <a:latin typeface="Arial"/>
                <a:ea typeface="Arial"/>
                <a:cs typeface="Arial"/>
                <a:sym typeface="Arial"/>
              </a:rPr>
              <a:t>GCP SAP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5485684" y="3774331"/>
            <a:ext cx="1834200" cy="0"/>
          </a:xfrm>
          <a:prstGeom prst="straightConnector1">
            <a:avLst/>
          </a:prstGeom>
          <a:noFill/>
          <a:ln w="25400" cap="flat" cmpd="sng">
            <a:solidFill>
              <a:srgbClr val="087DB7">
                <a:alpha val="100000"/>
              </a:srgbClr>
            </a:solidFill>
            <a:prstDash val="solid"/>
            <a:miter lim="8000000"/>
            <a:headEnd type="none" w="sm" len="sm"/>
            <a:tailEnd type="none" w="sm" len="sm"/>
          </a:ln>
        </p:spPr>
      </p:cxnSp>
      <p:sp>
        <p:nvSpPr>
          <p:cNvPr id="7" name="AutoShape 7"/>
          <p:cNvSpPr/>
          <p:nvPr/>
        </p:nvSpPr>
        <p:spPr>
          <a:xfrm>
            <a:off x="5168190" y="6474448"/>
            <a:ext cx="1819800" cy="4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Rights Reserved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childTnLst>
                              <p:par>
                                <p:cTn id="9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childTnLst>
                              <p:par>
                                <p:cTn id="13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SAP PO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91434" y="262590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02466" y="345435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851092" y="2563826"/>
          <a:ext cx="4489800" cy="140714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4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Suse Linux Enter 12 SP5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1995" y="290214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315401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48352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699" y="11129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SAP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Information - SAP EIC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83862" y="1990681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91434" y="31005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02466" y="39290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851092" y="3038513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(3 x 8vCPU)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 GB (3 x 32GB)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1.32.4-gke.1767000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1995" y="3376829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36287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9582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134030" y="4275047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90182" y="11129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Utilization - SAP EIC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Server DB Information - SAP EIC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83862" y="1990681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91434" y="31005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02466" y="39290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851092" y="3038513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vCPU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 15.12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1995" y="3376829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36287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9582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3717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Server DB Utilization - SAP EIC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Server Redis Information - SAP EIC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83862" y="1990681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91434" y="31005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02466" y="39290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851092" y="3038513"/>
          <a:ext cx="4489800" cy="993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Replication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077298" y="36287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180701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Server Redis Utilization - SAP EIC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6"/>
          </p:nvPr>
        </p:nvPicPr>
        <p:blipFill>
          <a:blip r:embed="rId3"/>
          <a:srcRect t="8506" b="8491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-18648" y="0"/>
            <a:ext cx="12192000" cy="6858000"/>
          </a:xfrm>
          <a:prstGeom prst="round1Rect">
            <a:avLst/>
          </a:prstGeom>
          <a:solidFill>
            <a:srgbClr val="32B6E9">
              <a:alpha val="8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21465" y="2195836"/>
            <a:ext cx="7003800" cy="2313900"/>
          </a:xfrm>
          <a:prstGeom prst="roundRect">
            <a:avLst>
              <a:gd name="adj" fmla="val 5628"/>
            </a:avLst>
          </a:prstGeom>
          <a:gradFill rotWithShape="0">
            <a:gsLst>
              <a:gs pos="0">
                <a:srgbClr val="FFFFFF">
                  <a:alpha val="80000"/>
                </a:srgbClr>
              </a:gs>
              <a:gs pos="15000">
                <a:srgbClr val="FFFFFF">
                  <a:alpha val="80000"/>
                </a:srgbClr>
              </a:gs>
              <a:gs pos="8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  <a:effectLst>
            <a:outerShdw blurRad="850900" dist="939800" dir="5400000" sx="85000" sy="85000" algn="t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227666" y="2911973"/>
            <a:ext cx="6102600" cy="861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087DB7"/>
                </a:solidFill>
                <a:latin typeface="Arial"/>
                <a:ea typeface="Arial"/>
                <a:cs typeface="Arial"/>
                <a:sym typeface="Arial"/>
              </a:rPr>
              <a:t>GCP QA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5485684" y="3774331"/>
            <a:ext cx="1834200" cy="0"/>
          </a:xfrm>
          <a:prstGeom prst="straightConnector1">
            <a:avLst/>
          </a:prstGeom>
          <a:noFill/>
          <a:ln w="25400" cap="flat" cmpd="sng">
            <a:solidFill>
              <a:srgbClr val="087DB7">
                <a:alpha val="100000"/>
              </a:srgbClr>
            </a:solidFill>
            <a:prstDash val="solid"/>
            <a:miter lim="8000000"/>
            <a:headEnd type="none" w="sm" len="sm"/>
            <a:tailEnd type="none" w="sm" len="sm"/>
          </a:ln>
        </p:spPr>
      </p:cxnSp>
      <p:sp>
        <p:nvSpPr>
          <p:cNvPr id="7" name="AutoShape 7"/>
          <p:cNvSpPr/>
          <p:nvPr/>
        </p:nvSpPr>
        <p:spPr>
          <a:xfrm>
            <a:off x="5168190" y="6474448"/>
            <a:ext cx="1819800" cy="4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Rights Reserved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childTnLst>
                              <p:par>
                                <p:cTn id="9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childTnLst>
                              <p:par>
                                <p:cTn id="13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Information – GCP QA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51100" y="1859649"/>
            <a:ext cx="4489800" cy="621899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91442" y="275635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02474" y="358481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851100" y="2694283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(2 x 2vCPU)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GB (2 x 8GB)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x 100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1.32.4-gke.1767000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2003" y="3032599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306" y="328447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40" y="361398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134038" y="3930817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180701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Server Utilization – GCP QA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6"/>
          </p:nvPr>
        </p:nvPicPr>
        <p:blipFill>
          <a:blip r:embed="rId3"/>
          <a:srcRect t="8506" b="8491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-18648" y="0"/>
            <a:ext cx="12192000" cy="6858000"/>
          </a:xfrm>
          <a:prstGeom prst="round1Rect">
            <a:avLst/>
          </a:prstGeom>
          <a:solidFill>
            <a:srgbClr val="32B6E9">
              <a:alpha val="8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21465" y="2195836"/>
            <a:ext cx="7003800" cy="2313900"/>
          </a:xfrm>
          <a:prstGeom prst="roundRect">
            <a:avLst>
              <a:gd name="adj" fmla="val 5628"/>
            </a:avLst>
          </a:prstGeom>
          <a:gradFill rotWithShape="0">
            <a:gsLst>
              <a:gs pos="0">
                <a:srgbClr val="FFFFFF">
                  <a:alpha val="80000"/>
                </a:srgbClr>
              </a:gs>
              <a:gs pos="15000">
                <a:srgbClr val="FFFFFF">
                  <a:alpha val="80000"/>
                </a:srgbClr>
              </a:gs>
              <a:gs pos="8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  <a:effectLst>
            <a:outerShdw blurRad="850900" dist="939800" dir="5400000" sx="85000" sy="85000" algn="t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227666" y="2442026"/>
            <a:ext cx="5981648" cy="1631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087DB7"/>
                </a:solidFill>
                <a:latin typeface="Arial"/>
                <a:ea typeface="Arial"/>
                <a:cs typeface="Arial"/>
                <a:sym typeface="Arial"/>
              </a:rPr>
              <a:t>GCP Network and Security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168190" y="6474448"/>
            <a:ext cx="1819800" cy="4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Rights Reserved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childTnLst>
                              <p:par>
                                <p:cTn id="9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00" y="195703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Interconnect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180701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Load Balance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17065" y="12815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Cloud Armor (WAF)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6"/>
          </p:nvPr>
        </p:nvPicPr>
        <p:blipFill>
          <a:blip r:embed="rId3"/>
          <a:srcRect t="8506" b="8491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-18648" y="0"/>
            <a:ext cx="12192000" cy="6858000"/>
          </a:xfrm>
          <a:prstGeom prst="round1Rect">
            <a:avLst/>
          </a:prstGeom>
          <a:solidFill>
            <a:srgbClr val="32B6E9">
              <a:alpha val="8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21465" y="2195836"/>
            <a:ext cx="7003800" cy="2313900"/>
          </a:xfrm>
          <a:prstGeom prst="roundRect">
            <a:avLst>
              <a:gd name="adj" fmla="val 5628"/>
            </a:avLst>
          </a:prstGeom>
          <a:gradFill rotWithShape="0">
            <a:gsLst>
              <a:gs pos="0">
                <a:srgbClr val="FFFFFF">
                  <a:alpha val="80000"/>
                </a:srgbClr>
              </a:gs>
              <a:gs pos="15000">
                <a:srgbClr val="FFFFFF">
                  <a:alpha val="80000"/>
                </a:srgbClr>
              </a:gs>
              <a:gs pos="8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  <a:effectLst>
            <a:outerShdw blurRad="850900" dist="939800" dir="5400000" sx="85000" sy="85000" algn="t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227666" y="2911973"/>
            <a:ext cx="6102600" cy="861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087DB7"/>
                </a:solidFill>
                <a:latin typeface="Arial"/>
                <a:ea typeface="Arial"/>
                <a:cs typeface="Arial"/>
                <a:sym typeface="Arial"/>
              </a:rPr>
              <a:t>Oracle Pelindo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5485684" y="3774331"/>
            <a:ext cx="1834200" cy="0"/>
          </a:xfrm>
          <a:prstGeom prst="straightConnector1">
            <a:avLst/>
          </a:prstGeom>
          <a:noFill/>
          <a:ln w="25400" cap="flat" cmpd="sng">
            <a:solidFill>
              <a:srgbClr val="087DB7">
                <a:alpha val="100000"/>
              </a:srgbClr>
            </a:solidFill>
            <a:prstDash val="solid"/>
            <a:miter lim="8000000"/>
            <a:headEnd type="none" w="sm" len="sm"/>
            <a:tailEnd type="none" w="sm" len="sm"/>
          </a:ln>
        </p:spPr>
      </p:cxnSp>
      <p:sp>
        <p:nvSpPr>
          <p:cNvPr id="7" name="AutoShape 7"/>
          <p:cNvSpPr/>
          <p:nvPr/>
        </p:nvSpPr>
        <p:spPr>
          <a:xfrm>
            <a:off x="5168190" y="6474448"/>
            <a:ext cx="1819800" cy="4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Rights Reserved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childTnLst>
                              <p:par>
                                <p:cTn id="9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childTnLst>
                              <p:par>
                                <p:cTn id="13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Travel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319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7.9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05875" y="3213728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51178" y="3465604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94612" y="3795112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81183" y="169541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Travel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745925" y="487875"/>
            <a:ext cx="48285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Cloudera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724292" y="1512089"/>
          <a:ext cx="7985275" cy="413746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0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1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17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VM Name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Quantity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67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dlake-edge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8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dlake-mstr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73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dlake-repo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73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dlake-util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41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dns-server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Windows Server 2019 standard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745925" y="487875"/>
            <a:ext cx="48285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</a:t>
            </a:r>
            <a:r>
              <a:rPr lang="en-US" sz="28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Cloudera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609717" y="1451814"/>
          <a:ext cx="8265225" cy="379590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7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6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1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757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VM Name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Quantity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515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dlake-wkr-01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 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8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strm-kfk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8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strm-mstr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745925" y="487875"/>
            <a:ext cx="48285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</a:t>
            </a:r>
            <a:r>
              <a:rPr lang="en-US" sz="28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Cloudera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671792" y="1673414"/>
          <a:ext cx="8848400" cy="252579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5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757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VM Name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Quantity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8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strm-nf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8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strm-util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05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freeipa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 linux v8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418975" y="111293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dlake-repo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392102" y="180701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dlake-edge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764002" y="52622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dlake-wkr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652078" y="52622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dlake-mstr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707225" y="111245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dlake-util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755665" y="158710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strm-kfk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59443" y="195703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strm-nf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559443" y="195703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strm-mstr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8061" y="99405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strm-util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753407" y="83240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freeipa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679515" y="158710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</a:t>
            </a:r>
            <a:r>
              <a:rPr lang="en-US" sz="2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dns-server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Phinnisi - VM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83862" y="1990681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91434" y="31005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02466" y="39290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3899266" y="2583999"/>
          <a:ext cx="4489800" cy="18288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 (3 x 3vCPU)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 GB (3 x 32GB)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31995" y="289786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77298" y="3193275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120732" y="3501009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134030" y="3828732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7334" r="993"/>
          <a:stretch>
            <a:fillRect/>
          </a:stretch>
        </p:blipFill>
        <p:spPr>
          <a:xfrm rot="10800000" flipV="1">
            <a:off x="0" y="6164038"/>
            <a:ext cx="11854543" cy="49825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039734" y="205971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Phinnisi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Information - Phinnisi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464116" y="3006784"/>
          <a:ext cx="2244900" cy="135694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2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2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Phinnisi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65544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4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(Oracle CPU) : 32 (16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GB (16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1424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Oracle/19.22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088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39383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2552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 t="24577" b="23406"/>
          <a:stretch>
            <a:fillRect/>
          </a:stretch>
        </p:blipFill>
        <p:spPr>
          <a:xfrm>
            <a:off x="2303454" y="2497996"/>
            <a:ext cx="1722863" cy="43694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7430" r="897"/>
          <a:stretch>
            <a:fillRect/>
          </a:stretch>
        </p:blipFill>
        <p:spPr>
          <a:xfrm rot="10800000" flipV="1">
            <a:off x="-12700" y="6211175"/>
            <a:ext cx="11876314" cy="45112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679516" y="195703"/>
            <a:ext cx="5871600" cy="61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91425" rIns="91425" bIns="91425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DB Phinnisi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Information - Madra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17381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PEO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 Era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Portal SI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PELUIT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Eat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RKM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 Travel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KPI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Eat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Travel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SIAP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65544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4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(Oracle CPU) : 12 (6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 GB (96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912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Oracle/19.22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088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39383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2552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 t="24577" b="23406"/>
          <a:stretch>
            <a:fillRect/>
          </a:stretch>
        </p:blipFill>
        <p:spPr>
          <a:xfrm>
            <a:off x="2303454" y="2497996"/>
            <a:ext cx="1722863" cy="43694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-12700" y="5841895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75312" y="9882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Utilization – Madra (DB Oracle)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028604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Information - Pancala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48" cy="396384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439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372" cy="523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48" cy="396384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Eproc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 CICO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 Pelindo Web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 Pelindo Mobile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HSSE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65544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7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4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(oCPU): 8 (4 x 2) = 16 vcpu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 GB (64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1424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Oracle/19.22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088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39383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2552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 t="24576" b="23407"/>
          <a:stretch>
            <a:fillRect/>
          </a:stretch>
        </p:blipFill>
        <p:spPr>
          <a:xfrm>
            <a:off x="2303454" y="2497996"/>
            <a:ext cx="1722863" cy="43694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17497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86354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Utilization - Pancala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Information - Hastina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48" cy="396384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439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372" cy="5232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48" cy="396384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Integrator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Pelindo Pay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I-Hub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(Oracle CPU) : 8 (4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 GB (64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1168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Oracle/19.22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088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39383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2552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 t="24576" b="23407"/>
          <a:stretch>
            <a:fillRect/>
          </a:stretch>
        </p:blipFill>
        <p:spPr>
          <a:xfrm>
            <a:off x="2303454" y="2497996"/>
            <a:ext cx="1722863" cy="43694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233016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Utilization - Hastina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Information - Ayodya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21336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Emudik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Cruise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Portinfo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Eproc Legi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Portal APBS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Centra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MDM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Tanos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Siuk-Ambapers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ECDR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PPA-Ambapers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20422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7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(Oracle CPU) : 8 (4 x 2)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vCPU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 GB (64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1168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Oracle/19.22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8374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41669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4838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 t="24577" b="23406"/>
          <a:stretch>
            <a:fillRect/>
          </a:stretch>
        </p:blipFill>
        <p:spPr>
          <a:xfrm>
            <a:off x="2303454" y="2497996"/>
            <a:ext cx="1722863" cy="43694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211401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Utilization - Ayodya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Information - Alengka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749518" y="3006886"/>
          <a:ext cx="22449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Datapool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Raports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P-files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69737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7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(Oracle CPU) : 8 (4 x 2)</a:t>
                      </a:r>
                      <a:endParaRPr lang="en-US" sz="1100"/>
                    </a:p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vCPU</a:t>
                      </a: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GB (64 x 2)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1024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Oracle/19.26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8374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41669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4838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 t="24577" b="23406"/>
          <a:stretch>
            <a:fillRect/>
          </a:stretch>
        </p:blipFill>
        <p:spPr>
          <a:xfrm>
            <a:off x="2303454" y="2497996"/>
            <a:ext cx="1722863" cy="43694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8268" y="211401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Utilization - Alengka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Information - MySQL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PICS (Insurance)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8.4.3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088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39383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2552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9882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Utilization - MySQL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69374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Information - Postgres (SIGAP)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12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SIGAP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katalog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23121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01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Postgress  14.17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088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205880" y="42552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9882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Utilization - Postgres (SIGAP)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6"/>
          </p:nvPr>
        </p:nvPicPr>
        <p:blipFill>
          <a:blip r:embed="rId3"/>
          <a:srcRect t="8504" b="8497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-18648" y="0"/>
            <a:ext cx="12192000" cy="6858000"/>
          </a:xfrm>
          <a:prstGeom prst="round1Rect">
            <a:avLst/>
          </a:prstGeom>
          <a:solidFill>
            <a:srgbClr val="32B6E9">
              <a:alpha val="8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21465" y="2272036"/>
            <a:ext cx="7003800" cy="2313900"/>
          </a:xfrm>
          <a:prstGeom prst="roundRect">
            <a:avLst>
              <a:gd name="adj" fmla="val 5628"/>
            </a:avLst>
          </a:prstGeom>
          <a:gradFill rotWithShape="0">
            <a:gsLst>
              <a:gs pos="0">
                <a:srgbClr val="FFFFFF">
                  <a:alpha val="80000"/>
                </a:srgbClr>
              </a:gs>
              <a:gs pos="15000">
                <a:srgbClr val="FFFFFF">
                  <a:alpha val="80000"/>
                </a:srgbClr>
              </a:gs>
              <a:gs pos="8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  <a:effectLst>
            <a:outerShdw blurRad="850900" dist="939800" dir="5400000" sx="85000" sy="85000" algn="t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227666" y="2911973"/>
            <a:ext cx="6102600" cy="861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087DB7"/>
                </a:solidFill>
                <a:latin typeface="Arial"/>
                <a:ea typeface="Arial"/>
                <a:cs typeface="Arial"/>
                <a:sym typeface="Arial"/>
              </a:rPr>
              <a:t>Huawei Portaverse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5485684" y="3774331"/>
            <a:ext cx="1834200" cy="0"/>
          </a:xfrm>
          <a:prstGeom prst="straightConnector1">
            <a:avLst/>
          </a:prstGeom>
          <a:noFill/>
          <a:ln w="25400" cap="flat" cmpd="sng">
            <a:solidFill>
              <a:srgbClr val="087DB7">
                <a:alpha val="100000"/>
              </a:srgbClr>
            </a:solidFill>
            <a:prstDash val="solid"/>
            <a:miter lim="8000000"/>
            <a:headEnd type="none" w="sm" len="sm"/>
            <a:tailEnd type="none" w="sm" len="sm"/>
          </a:ln>
        </p:spPr>
      </p:cxnSp>
      <p:sp>
        <p:nvSpPr>
          <p:cNvPr id="7" name="AutoShape 7"/>
          <p:cNvSpPr/>
          <p:nvPr/>
        </p:nvSpPr>
        <p:spPr>
          <a:xfrm>
            <a:off x="5168190" y="6474448"/>
            <a:ext cx="1819800" cy="4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Rights Reserved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childTnLst>
                              <p:par>
                                <p:cTn id="9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childTnLst>
                              <p:par>
                                <p:cTn id="13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Information - Portaverse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Cluster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496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Portaverse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7381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(8 x3 )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GB (16 x 3)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 GB (100x3)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124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v1.29.2 -29.0.11.8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088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39383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5600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42431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54952" y="98825"/>
            <a:ext cx="87009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Cluster Portaverse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Spesifikasi Database Portaverse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496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Portaverse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32 vCPU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 GB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8.0.28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649779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3979287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296122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52277" y="98825"/>
            <a:ext cx="85090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Database Utilization - Portaverse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75312" y="9882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Object Storage - Portaverse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SIMON TKBM - STID Nasional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319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Centos 7.9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094650" y="2895703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39953" y="3147579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83387" y="3477087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9882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SIMON TKBM - STID Nasional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95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Spesifikasi Database SIMON TKBM - STID Nasional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7449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STID Nasional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SIMON TKBM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8 vCPU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GB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8.0.28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8374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41669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4838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9882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DB Utilization - SIMON TKBM - STID Nasional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Spesifikasi - IMS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65314" y="2937489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346" y="3765946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774917" y="2558263"/>
          <a:ext cx="4489800" cy="1319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5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Centos 7.9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094650" y="2895703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039953" y="3147579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083387" y="3477087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9882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VM Utilization - IMS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1160179"/>
            <a:ext cx="10080600" cy="95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Spesifikasi Database IMS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105571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Server Spesification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63284" y="3080751"/>
            <a:ext cx="2305500" cy="307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(Oracle CPU) : 16 (8 x 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74316" y="3909208"/>
            <a:ext cx="24834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marL="13970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 : 256 GB (128 x 2)</a:t>
            </a:r>
            <a:endParaRPr lang="en-US" sz="1100"/>
          </a:p>
          <a:p>
            <a:pPr marL="13970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9" name="AutoShape 9"/>
          <p:cNvSpPr/>
          <p:nvPr/>
        </p:nvSpPr>
        <p:spPr>
          <a:xfrm>
            <a:off x="5895522" y="1970843"/>
            <a:ext cx="4218300" cy="396300"/>
          </a:xfrm>
          <a:prstGeom prst="rect">
            <a:avLst/>
          </a:prstGeom>
          <a:solidFill>
            <a:srgbClr val="2E75B5">
              <a:alpha val="10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For Application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5759793" y="3028936"/>
          <a:ext cx="4489800" cy="7449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STID Nasional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SIMON TKBM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22942" y="3018676"/>
          <a:ext cx="4489800" cy="148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3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8 vCPU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GB 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Disk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250 GB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8.0.28</a:t>
                      </a:r>
                      <a:endParaRPr lang="en-US" sz="1100"/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4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03845" y="3356991"/>
            <a:ext cx="234226" cy="23422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9148" y="3837466"/>
            <a:ext cx="343620" cy="3436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92582" y="4166974"/>
            <a:ext cx="288923" cy="28892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205880" y="4483809"/>
            <a:ext cx="275625" cy="2756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18190" y="111293"/>
            <a:ext cx="1561357" cy="49825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36761" r="1566"/>
          <a:stretch>
            <a:fillRect/>
          </a:stretch>
        </p:blipFill>
        <p:spPr>
          <a:xfrm rot="10800000" flipV="1">
            <a:off x="0" y="5854372"/>
            <a:ext cx="12192000" cy="8079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-1270013" y="6430999"/>
            <a:ext cx="5764200" cy="24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 All Rights Reserved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55712" y="98829"/>
            <a:ext cx="10080600" cy="52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111029"/>
                </a:solidFill>
                <a:latin typeface="Arial"/>
                <a:ea typeface="Arial"/>
                <a:cs typeface="Arial"/>
                <a:sym typeface="Arial"/>
              </a:rPr>
              <a:t>DB Utilization IMS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6"/>
          </p:nvPr>
        </p:nvPicPr>
        <p:blipFill>
          <a:blip r:embed="rId3"/>
          <a:srcRect t="8505" b="85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-18648" y="0"/>
            <a:ext cx="12192000" cy="6858000"/>
          </a:xfrm>
          <a:prstGeom prst="round1Rect">
            <a:avLst/>
          </a:prstGeom>
          <a:solidFill>
            <a:srgbClr val="32B6E9">
              <a:alpha val="80000"/>
            </a:srgbClr>
          </a:solidFill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821465" y="2272036"/>
            <a:ext cx="7003816" cy="2313929"/>
          </a:xfrm>
          <a:prstGeom prst="roundRect">
            <a:avLst>
              <a:gd name="adj" fmla="val 5628"/>
            </a:avLst>
          </a:prstGeom>
          <a:gradFill rotWithShape="0">
            <a:gsLst>
              <a:gs pos="0">
                <a:srgbClr val="FFFFFF">
                  <a:alpha val="80000"/>
                </a:srgbClr>
              </a:gs>
              <a:gs pos="15000">
                <a:srgbClr val="FFFFFF">
                  <a:alpha val="80000"/>
                </a:srgbClr>
              </a:gs>
              <a:gs pos="85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  <a:prstDash val="solid"/>
          </a:ln>
          <a:effectLst>
            <a:outerShdw blurRad="850900" dist="939800" dir="5400000" sx="85000" sy="85000" algn="t" rotWithShape="0">
              <a:srgbClr val="000000">
                <a:alpha val="0"/>
              </a:srgbClr>
            </a:outerShdw>
          </a:effectLst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227666" y="2911973"/>
            <a:ext cx="6102584" cy="8617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000" b="1" i="0" u="none" strike="noStrike">
                <a:solidFill>
                  <a:srgbClr val="087DB7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lang="en-US" sz="1100"/>
          </a:p>
        </p:txBody>
      </p:sp>
      <p:grpSp>
        <p:nvGrpSpPr>
          <p:cNvPr id="6" name="Group 6"/>
          <p:cNvGrpSpPr/>
          <p:nvPr/>
        </p:nvGrpSpPr>
        <p:grpSpPr>
          <a:xfrm>
            <a:off x="2366719" y="2843988"/>
            <a:ext cx="909493" cy="1007726"/>
            <a:chOff x="2366719" y="2843988"/>
            <a:chExt cx="909493" cy="1007726"/>
          </a:xfrm>
        </p:grpSpPr>
        <p:sp>
          <p:nvSpPr>
            <p:cNvPr id="7" name="Freeform 7"/>
            <p:cNvSpPr/>
            <p:nvPr/>
          </p:nvSpPr>
          <p:spPr>
            <a:xfrm>
              <a:off x="2366719" y="2843988"/>
              <a:ext cx="909493" cy="1007726"/>
            </a:xfrm>
            <a:custGeom>
              <a:avLst/>
              <a:gdLst/>
              <a:ahLst/>
              <a:cxnLst/>
              <a:rect l="l" t="t" r="r" b="b"/>
              <a:pathLst>
                <a:path w="909493" h="1007726">
                  <a:moveTo>
                    <a:pt x="358272" y="34468"/>
                  </a:moveTo>
                  <a:cubicBezTo>
                    <a:pt x="417970" y="0"/>
                    <a:pt x="491522" y="0"/>
                    <a:pt x="551221" y="34468"/>
                  </a:cubicBezTo>
                  <a:lnTo>
                    <a:pt x="813018" y="185616"/>
                  </a:lnTo>
                  <a:cubicBezTo>
                    <a:pt x="872716" y="220082"/>
                    <a:pt x="909493" y="283780"/>
                    <a:pt x="909493" y="352716"/>
                  </a:cubicBezTo>
                  <a:lnTo>
                    <a:pt x="909493" y="655010"/>
                  </a:lnTo>
                  <a:cubicBezTo>
                    <a:pt x="909493" y="723946"/>
                    <a:pt x="872716" y="787643"/>
                    <a:pt x="813018" y="822109"/>
                  </a:cubicBezTo>
                  <a:lnTo>
                    <a:pt x="551221" y="973259"/>
                  </a:lnTo>
                  <a:cubicBezTo>
                    <a:pt x="491522" y="1007726"/>
                    <a:pt x="417970" y="1007726"/>
                    <a:pt x="358272" y="973259"/>
                  </a:cubicBezTo>
                  <a:lnTo>
                    <a:pt x="96474" y="822109"/>
                  </a:lnTo>
                  <a:cubicBezTo>
                    <a:pt x="36775" y="787643"/>
                    <a:pt x="0" y="723946"/>
                    <a:pt x="0" y="655010"/>
                  </a:cubicBezTo>
                  <a:lnTo>
                    <a:pt x="0" y="352716"/>
                  </a:lnTo>
                  <a:cubicBezTo>
                    <a:pt x="0" y="283780"/>
                    <a:pt x="36775" y="220082"/>
                    <a:pt x="96474" y="185616"/>
                  </a:cubicBezTo>
                  <a:lnTo>
                    <a:pt x="358272" y="34468"/>
                  </a:lnTo>
                  <a:close/>
                </a:path>
              </a:pathLst>
            </a:custGeom>
            <a:solidFill>
              <a:srgbClr val="087DB7">
                <a:alpha val="100000"/>
              </a:srgbClr>
            </a:solidFill>
            <a:ln w="12700">
              <a:noFill/>
              <a:prstDash val="solid"/>
            </a:ln>
            <a:effectLst>
              <a:outerShdw blurRad="571500" dist="381000" dir="5400000" sx="85000" sy="85000" algn="t" rotWithShape="0">
                <a:srgbClr val="4472C4">
                  <a:alpha val="20000"/>
                </a:srgbClr>
              </a:outerShdw>
            </a:effectLst>
          </p:spPr>
          <p:txBody>
            <a:bodyPr lIns="91425" tIns="45700" rIns="91425" bIns="45700" rtlCol="0" anchor="ctr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2510930" y="3003775"/>
              <a:ext cx="621071" cy="688152"/>
            </a:xfrm>
            <a:custGeom>
              <a:avLst/>
              <a:gdLst/>
              <a:ahLst/>
              <a:cxnLst/>
              <a:rect l="l" t="t" r="r" b="b"/>
              <a:pathLst>
                <a:path w="621071" h="688152">
                  <a:moveTo>
                    <a:pt x="244655" y="23537"/>
                  </a:moveTo>
                  <a:cubicBezTo>
                    <a:pt x="285422" y="0"/>
                    <a:pt x="335650" y="0"/>
                    <a:pt x="376415" y="23537"/>
                  </a:cubicBezTo>
                  <a:lnTo>
                    <a:pt x="555191" y="126752"/>
                  </a:lnTo>
                  <a:cubicBezTo>
                    <a:pt x="595958" y="150289"/>
                    <a:pt x="621071" y="193787"/>
                    <a:pt x="621071" y="240861"/>
                  </a:cubicBezTo>
                  <a:lnTo>
                    <a:pt x="621071" y="447292"/>
                  </a:lnTo>
                  <a:cubicBezTo>
                    <a:pt x="621071" y="494365"/>
                    <a:pt x="595958" y="537863"/>
                    <a:pt x="555191" y="561399"/>
                  </a:cubicBezTo>
                  <a:lnTo>
                    <a:pt x="376415" y="664616"/>
                  </a:lnTo>
                  <a:cubicBezTo>
                    <a:pt x="335650" y="688152"/>
                    <a:pt x="285422" y="688152"/>
                    <a:pt x="244655" y="664616"/>
                  </a:cubicBezTo>
                  <a:lnTo>
                    <a:pt x="65880" y="561399"/>
                  </a:lnTo>
                  <a:cubicBezTo>
                    <a:pt x="25113" y="537863"/>
                    <a:pt x="0" y="494365"/>
                    <a:pt x="0" y="447292"/>
                  </a:cubicBezTo>
                  <a:lnTo>
                    <a:pt x="0" y="240861"/>
                  </a:lnTo>
                  <a:cubicBezTo>
                    <a:pt x="0" y="193787"/>
                    <a:pt x="25113" y="150289"/>
                    <a:pt x="65880" y="126752"/>
                  </a:cubicBezTo>
                  <a:lnTo>
                    <a:pt x="244655" y="23537"/>
                  </a:lnTo>
                  <a:close/>
                </a:path>
              </a:pathLst>
            </a:custGeom>
            <a:solidFill>
              <a:srgbClr val="32B6E9">
                <a:alpha val="100000"/>
              </a:srgbClr>
            </a:solidFill>
            <a:ln w="12700">
              <a:noFill/>
              <a:prstDash val="solid"/>
            </a:ln>
            <a:effectLst>
              <a:outerShdw blurRad="571500" dist="381000" dir="5400000" sx="85000" sy="85000" algn="t" rotWithShape="0">
                <a:srgbClr val="ED7D31">
                  <a:alpha val="20000"/>
                </a:srgbClr>
              </a:outerShdw>
            </a:effectLst>
          </p:spPr>
          <p:txBody>
            <a:bodyPr lIns="91425" tIns="45700" rIns="91425" bIns="45700" rtlCol="0" anchor="ctr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2649476" y="3188313"/>
              <a:ext cx="343978" cy="319077"/>
            </a:xfrm>
            <a:prstGeom prst="rect">
              <a:avLst/>
            </a:prstGeom>
            <a:blipFill rotWithShape="1">
              <a:blip r:embed="rId4"/>
              <a:stretch>
                <a:fillRect/>
              </a:stretch>
            </a:blipFill>
            <a:ln w="12700">
              <a:noFill/>
              <a:prstDash val="solid"/>
            </a:ln>
          </p:spPr>
          <p:txBody>
            <a:bodyPr lIns="91425" tIns="45700" rIns="91425" bIns="45700" rtlCol="0" anchor="ctr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cxnSp>
        <p:nvCxnSpPr>
          <p:cNvPr id="10" name="Connector 10"/>
          <p:cNvCxnSpPr/>
          <p:nvPr/>
        </p:nvCxnSpPr>
        <p:spPr>
          <a:xfrm>
            <a:off x="5485684" y="3774331"/>
            <a:ext cx="1834318" cy="0"/>
          </a:xfrm>
          <a:prstGeom prst="straightConnector1">
            <a:avLst/>
          </a:prstGeom>
          <a:noFill/>
          <a:ln w="25400" cap="flat" cmpd="sng">
            <a:solidFill>
              <a:srgbClr val="087DB7">
                <a:alpha val="100000"/>
              </a:srgbClr>
            </a:solidFill>
            <a:prstDash val="solid"/>
            <a:miter lim="8000000"/>
            <a:headEnd type="none" w="sm" len="sm"/>
            <a:tailEnd type="none" w="sm" len="sm"/>
          </a:ln>
        </p:spPr>
      </p:cxnSp>
      <p:sp>
        <p:nvSpPr>
          <p:cNvPr id="11" name="AutoShape 11"/>
          <p:cNvSpPr/>
          <p:nvPr/>
        </p:nvSpPr>
        <p:spPr>
          <a:xfrm>
            <a:off x="5168190" y="6474448"/>
            <a:ext cx="1819729" cy="4001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25" tIns="45700" rIns="91425" bIns="4570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2022 – PT ILCS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Rights Reserved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childTnLst>
                              <p:par>
                                <p:cTn id="9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repeatCount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childTnLst>
                              <p:par>
                                <p:cTn id="16" presetID="10" presetClass="entr" presetSubtype="0" repeatCount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4059</Words>
  <Application>Microsoft Office PowerPoint</Application>
  <PresentationFormat>Widescreen</PresentationFormat>
  <Paragraphs>1409</Paragraphs>
  <Slides>106</Slides>
  <Notes>106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106</vt:i4>
      </vt:variant>
    </vt:vector>
  </HeadingPairs>
  <TitlesOfParts>
    <vt:vector size="111" baseType="lpstr">
      <vt:lpstr>Arial</vt:lpstr>
      <vt:lpstr>Calibri</vt:lpstr>
      <vt:lpstr>Noto Sans SC</vt:lpstr>
      <vt:lpstr>Office 主题​​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Suhendi</cp:lastModifiedBy>
  <cp:revision>1</cp:revision>
  <dcterms:modified xsi:type="dcterms:W3CDTF">2026-03-08T18:58:29Z</dcterms:modified>
</cp:coreProperties>
</file>